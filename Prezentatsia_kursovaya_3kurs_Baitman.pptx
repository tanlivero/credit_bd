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без заголовка" id="{6376F113-D524-489B-91F1-108F212E8371}">
          <p14:sldIdLst>
            <p14:sldId id="256"/>
            <p14:sldId id="257"/>
            <p14:sldId id="258"/>
            <p14:sldId id="259"/>
            <p14:sldId id="263"/>
            <p14:sldId id="260"/>
            <p14:sldId id="261"/>
            <p14:sldId id="262"/>
            <p14:sldId id="264"/>
            <p14:sldId id="266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88" autoAdjust="0"/>
  </p:normalViewPr>
  <p:slideViewPr>
    <p:cSldViewPr snapToGrid="0">
      <p:cViewPr varScale="1">
        <p:scale>
          <a:sx n="146" d="100"/>
          <a:sy n="146" d="100"/>
        </p:scale>
        <p:origin x="132" y="1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91F4-2D36-4D70-95FF-59A98070316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BDA4-0283-458D-8051-CD5E1E00A5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4253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91F4-2D36-4D70-95FF-59A98070316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BDA4-0283-458D-8051-CD5E1E00A5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542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91F4-2D36-4D70-95FF-59A98070316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BDA4-0283-458D-8051-CD5E1E00A5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861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91F4-2D36-4D70-95FF-59A98070316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BDA4-0283-458D-8051-CD5E1E00A5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5111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91F4-2D36-4D70-95FF-59A98070316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BDA4-0283-458D-8051-CD5E1E00A5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367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91F4-2D36-4D70-95FF-59A98070316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BDA4-0283-458D-8051-CD5E1E00A5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024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91F4-2D36-4D70-95FF-59A98070316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BDA4-0283-458D-8051-CD5E1E00A5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3806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91F4-2D36-4D70-95FF-59A98070316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BDA4-0283-458D-8051-CD5E1E00A5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645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91F4-2D36-4D70-95FF-59A98070316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BDA4-0283-458D-8051-CD5E1E00A5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5208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91F4-2D36-4D70-95FF-59A98070316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BDA4-0283-458D-8051-CD5E1E00A5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45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91F4-2D36-4D70-95FF-59A98070316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BDA4-0283-458D-8051-CD5E1E00A5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14830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91F4-2D36-4D70-95FF-59A98070316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BDA4-0283-458D-8051-CD5E1E00A53A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5785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91F4-2D36-4D70-95FF-59A98070316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BDA4-0283-458D-8051-CD5E1E00A5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3004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91F4-2D36-4D70-95FF-59A98070316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BDA4-0283-458D-8051-CD5E1E00A5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3078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91F4-2D36-4D70-95FF-59A98070316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BDA4-0283-458D-8051-CD5E1E00A5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3253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91F4-2D36-4D70-95FF-59A98070316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BDA4-0283-458D-8051-CD5E1E00A5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7783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A91F4-2D36-4D70-95FF-59A98070316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4BDA4-0283-458D-8051-CD5E1E00A5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925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B1A91F4-2D36-4D70-95FF-59A98070316A}" type="datetimeFigureOut">
              <a:rPr lang="ru-RU" smtClean="0"/>
              <a:t>07.12.2025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4BDA4-0283-458D-8051-CD5E1E00A5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61007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838A67-B2EF-AC6F-F05D-32DD9E8E9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806" y="402077"/>
            <a:ext cx="5208960" cy="2600527"/>
          </a:xfrm>
        </p:spPr>
        <p:txBody>
          <a:bodyPr/>
          <a:lstStyle/>
          <a:p>
            <a:br>
              <a:rPr lang="ru-RU" sz="2800" b="1" dirty="0">
                <a:effectLst/>
                <a:latin typeface="Molot" panose="02000506000000020004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effectLst/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Разработка </a:t>
            </a:r>
            <a:r>
              <a:rPr lang="ru-RU" sz="2800" b="1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программы проданных в кредит товаров с использованием</a:t>
            </a:r>
            <a:br>
              <a:rPr lang="ru-RU" sz="2800" b="1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баз данных</a:t>
            </a:r>
            <a:br>
              <a:rPr lang="ru-RU" sz="2800" dirty="0">
                <a:effectLst/>
                <a:latin typeface="Marvin" panose="02000000000000000000" pitchFamily="50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latin typeface="Marvin" panose="02000000000000000000" pitchFamily="50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785DE1-1C4E-FE2E-0364-E19A8E1B5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805" y="5431430"/>
            <a:ext cx="3905995" cy="823320"/>
          </a:xfrm>
        </p:spPr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Выполнил студент 3-го курса</a:t>
            </a:r>
            <a:endParaRPr lang="ru-RU" dirty="0"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800" dirty="0" err="1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Байтман</a:t>
            </a:r>
            <a:r>
              <a:rPr lang="ru-RU" sz="180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 А.Р.</a:t>
            </a:r>
            <a:endParaRPr lang="ru-RU" dirty="0"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70827F-1844-74CF-03B3-50A4F663C882}"/>
              </a:ext>
            </a:extLst>
          </p:cNvPr>
          <p:cNvSpPr txBox="1"/>
          <p:nvPr/>
        </p:nvSpPr>
        <p:spPr>
          <a:xfrm>
            <a:off x="5041900" y="5431430"/>
            <a:ext cx="35115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Comic Sans MS" panose="030F0702030302020204" pitchFamily="66" charset="0"/>
              </a:rPr>
              <a:t>Научный руководитель </a:t>
            </a:r>
            <a:endParaRPr lang="ru-RU" dirty="0">
              <a:effectLst/>
              <a:latin typeface="Comic Sans MS" panose="030F0702030302020204" pitchFamily="66" charset="0"/>
            </a:endParaRPr>
          </a:p>
          <a:p>
            <a:r>
              <a:rPr lang="ru-RU" sz="1800" dirty="0">
                <a:effectLst/>
                <a:latin typeface="Comic Sans MS" panose="030F0702030302020204" pitchFamily="66" charset="0"/>
              </a:rPr>
              <a:t>ст. преподаватель Бондаренко В.И</a:t>
            </a:r>
            <a:endParaRPr lang="ru-RU" dirty="0">
              <a:effectLst/>
              <a:latin typeface="Comic Sans MS" panose="030F0702030302020204" pitchFamily="66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B6863DF-B0FC-A88C-609C-A2F4DC277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203" y="3599234"/>
            <a:ext cx="4241798" cy="325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378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D93050-0570-D8D6-A7FD-91203F2C5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4179889" cy="1230032"/>
          </a:xfrm>
        </p:spPr>
        <p:txBody>
          <a:bodyPr/>
          <a:lstStyle/>
          <a:p>
            <a:r>
              <a:rPr lang="ru-RU" sz="280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Объект и предмет исследования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A3F281-CE7D-EF8F-F060-CBD55ED79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Comic Sans MS" panose="030F0702030302020204" pitchFamily="66" charset="0"/>
              </a:rPr>
              <a:t>Объект исследования </a:t>
            </a: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dirty="0">
                <a:latin typeface="Comic Sans MS" panose="030F0702030302020204" pitchFamily="66" charset="0"/>
              </a:rPr>
              <a:t>программное обеспечение и информационные процессы для проданных в кредит товаров</a:t>
            </a:r>
          </a:p>
          <a:p>
            <a:pPr marL="0" indent="0">
              <a:buNone/>
            </a:pPr>
            <a:endParaRPr lang="ru-RU" sz="1800" dirty="0"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ru-RU" sz="1800" dirty="0"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ru-RU" sz="1800" dirty="0">
                <a:latin typeface="Comic Sans MS" panose="030F0702030302020204" pitchFamily="66" charset="0"/>
              </a:rPr>
              <a:t>Предмет исследований </a:t>
            </a:r>
            <a:endParaRPr lang="en-US" sz="18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ru-RU" dirty="0">
                <a:latin typeface="Comic Sans MS" panose="030F0702030302020204" pitchFamily="66" charset="0"/>
              </a:rPr>
              <a:t>базы данных для проданных в кредит товаров</a:t>
            </a:r>
          </a:p>
          <a:p>
            <a:pPr marL="0" indent="0">
              <a:buNone/>
            </a:pPr>
            <a:endParaRPr lang="ru-RU" dirty="0"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0044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BF07F8-8C73-FAF1-2E39-3E915A03C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Цель работы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8F1F72-E2E1-947B-103E-6F2A2953B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9"/>
            <a:ext cx="6516688" cy="4055782"/>
          </a:xfrm>
        </p:spPr>
        <p:txBody>
          <a:bodyPr/>
          <a:lstStyle/>
          <a:p>
            <a:r>
              <a:rPr lang="ru-RU" dirty="0">
                <a:latin typeface="Comic Sans MS" panose="030F0702030302020204" pitchFamily="66" charset="0"/>
              </a:rPr>
              <a:t>разработка приложения, позволяющего вести базу данных с информацией о проданных в кредит товаров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3065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D1284D-486C-D7D2-4210-1AB609D47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Инструменты разработки</a:t>
            </a:r>
            <a:br>
              <a:rPr lang="ru-RU" dirty="0">
                <a:effectLst/>
                <a:latin typeface="Comic Sans MS" panose="030F0702030302020204" pitchFamily="66" charset="0"/>
              </a:rPr>
            </a:br>
            <a:endParaRPr lang="ru-RU" dirty="0"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6565AA-7498-EAAF-8EE1-A67CC7B36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4263" y="2198969"/>
            <a:ext cx="3049588" cy="2353982"/>
          </a:xfrm>
        </p:spPr>
        <p:txBody>
          <a:bodyPr/>
          <a:lstStyle/>
          <a:p>
            <a:pPr marL="0" indent="0">
              <a:buNone/>
            </a:pPr>
            <a:r>
              <a:rPr lang="ru-RU" sz="1600" b="0" i="0" dirty="0">
                <a:effectLst/>
                <a:latin typeface="Molot" panose="02000506000000020004" pitchFamily="50" charset="0"/>
              </a:rPr>
              <a:t> </a:t>
            </a:r>
            <a:r>
              <a:rPr lang="ru-RU" sz="1800" b="1" i="0" dirty="0">
                <a:effectLst/>
                <a:latin typeface="Comic Sans MS" panose="030F0702030302020204" pitchFamily="66" charset="0"/>
              </a:rPr>
              <a:t>программная платформа и</a:t>
            </a:r>
            <a:r>
              <a:rPr lang="en-US" sz="1800" b="1" i="0" dirty="0">
                <a:effectLst/>
                <a:latin typeface="Comic Sans MS" panose="030F0702030302020204" pitchFamily="66" charset="0"/>
              </a:rPr>
              <a:t> </a:t>
            </a:r>
            <a:r>
              <a:rPr lang="ru-RU" sz="1800" b="1" dirty="0">
                <a:latin typeface="Comic Sans MS" panose="030F0702030302020204" pitchFamily="66" charset="0"/>
              </a:rPr>
              <a:t>п</a:t>
            </a:r>
            <a:r>
              <a:rPr lang="ru-RU" sz="1800" b="1" i="0" dirty="0">
                <a:effectLst/>
                <a:latin typeface="Comic Sans MS" panose="030F0702030302020204" pitchFamily="66" charset="0"/>
              </a:rPr>
              <a:t>одсистема для построения графических интерфейсов</a:t>
            </a:r>
            <a:endParaRPr lang="ru-RU" b="1" i="0" dirty="0">
              <a:effectLst/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1800" b="1" i="1" dirty="0" err="1">
                <a:effectLst/>
                <a:latin typeface="Comic Sans MS" panose="030F0702030302020204" pitchFamily="66" charset="0"/>
              </a:rPr>
              <a:t>.Net</a:t>
            </a:r>
            <a:r>
              <a:rPr lang="en-US" sz="1800" b="1" i="1" dirty="0">
                <a:effectLst/>
                <a:latin typeface="Comic Sans MS" panose="030F0702030302020204" pitchFamily="66" charset="0"/>
              </a:rPr>
              <a:t> </a:t>
            </a:r>
            <a:r>
              <a:rPr lang="ru-RU" sz="1800" b="1" i="1" dirty="0">
                <a:effectLst/>
                <a:latin typeface="Comic Sans MS" panose="030F0702030302020204" pitchFamily="66" charset="0"/>
              </a:rPr>
              <a:t>и </a:t>
            </a:r>
            <a:r>
              <a:rPr lang="en-US" sz="1800" b="1" i="1" dirty="0">
                <a:effectLst/>
                <a:latin typeface="Comic Sans MS" panose="030F0702030302020204" pitchFamily="66" charset="0"/>
              </a:rPr>
              <a:t>forms</a:t>
            </a:r>
            <a:endParaRPr lang="ru-RU" i="1" dirty="0">
              <a:effectLst/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ru-RU" sz="1800" dirty="0">
              <a:effectLst/>
              <a:latin typeface="Molot" panose="02000506000000020004" pitchFamily="50" charset="0"/>
            </a:endParaRPr>
          </a:p>
          <a:p>
            <a:pPr marL="0" indent="0">
              <a:buNone/>
            </a:pPr>
            <a:endParaRPr lang="ru-RU" dirty="0">
              <a:effectLst/>
              <a:latin typeface="Molot" panose="02000506000000020004" pitchFamily="50" charset="0"/>
            </a:endParaRPr>
          </a:p>
          <a:p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14FC48CD-F58B-5106-36D7-2B557596BB6D}"/>
              </a:ext>
            </a:extLst>
          </p:cNvPr>
          <p:cNvSpPr txBox="1">
            <a:spLocks/>
          </p:cNvSpPr>
          <p:nvPr/>
        </p:nvSpPr>
        <p:spPr>
          <a:xfrm>
            <a:off x="4043363" y="2198969"/>
            <a:ext cx="3049588" cy="2353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ru-RU" sz="1800" dirty="0">
                <a:latin typeface="Comic Sans MS" panose="030F0702030302020204" pitchFamily="66" charset="0"/>
              </a:rPr>
              <a:t>Язык программирования </a:t>
            </a:r>
          </a:p>
          <a:p>
            <a:pPr marL="0" indent="0">
              <a:buFont typeface="Wingdings 3" charset="2"/>
              <a:buNone/>
            </a:pPr>
            <a:r>
              <a:rPr lang="ru-RU" sz="1800" b="1" i="1" dirty="0">
                <a:latin typeface="Comic Sans MS" panose="030F0702030302020204" pitchFamily="66" charset="0"/>
              </a:rPr>
              <a:t>С</a:t>
            </a:r>
            <a:r>
              <a:rPr lang="en-US" sz="1800" b="1" i="1" dirty="0">
                <a:latin typeface="Comic Sans MS" panose="030F0702030302020204" pitchFamily="66" charset="0"/>
              </a:rPr>
              <a:t>#</a:t>
            </a:r>
            <a:endParaRPr lang="ru-RU" i="1" dirty="0">
              <a:latin typeface="Comic Sans MS" panose="030F0702030302020204" pitchFamily="66" charset="0"/>
            </a:endParaRPr>
          </a:p>
          <a:p>
            <a:pPr marL="0" indent="0">
              <a:buFont typeface="Wingdings 3" charset="2"/>
              <a:buNone/>
            </a:pPr>
            <a:endParaRPr lang="ru-RU" sz="1800" dirty="0">
              <a:latin typeface="Molot" panose="02000506000000020004" pitchFamily="50" charset="0"/>
            </a:endParaRPr>
          </a:p>
          <a:p>
            <a:pPr marL="0" indent="0">
              <a:buFont typeface="Wingdings 3" charset="2"/>
              <a:buNone/>
            </a:pPr>
            <a:endParaRPr lang="ru-RU" dirty="0">
              <a:latin typeface="Molot" panose="02000506000000020004" pitchFamily="50" charset="0"/>
            </a:endParaRPr>
          </a:p>
          <a:p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B48A2012-46A4-A7DF-973E-21303456461B}"/>
              </a:ext>
            </a:extLst>
          </p:cNvPr>
          <p:cNvSpPr txBox="1">
            <a:spLocks/>
          </p:cNvSpPr>
          <p:nvPr/>
        </p:nvSpPr>
        <p:spPr>
          <a:xfrm>
            <a:off x="1255713" y="2198969"/>
            <a:ext cx="3049588" cy="2353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ru-RU" sz="1800" dirty="0">
                <a:latin typeface="Comic Sans MS" panose="030F0702030302020204" pitchFamily="66" charset="0"/>
              </a:rPr>
              <a:t>Среда разработки</a:t>
            </a:r>
          </a:p>
          <a:p>
            <a:pPr marL="0" indent="0">
              <a:buFont typeface="Wingdings 3" charset="2"/>
              <a:buNone/>
            </a:pPr>
            <a:r>
              <a:rPr lang="ru-RU" sz="1800" dirty="0">
                <a:latin typeface="Comic Sans MS" panose="030F0702030302020204" pitchFamily="66" charset="0"/>
              </a:rPr>
              <a:t>В качестве среды разработки использовалась</a:t>
            </a:r>
          </a:p>
          <a:p>
            <a:pPr marL="0" indent="0">
              <a:buFont typeface="Wingdings 3" charset="2"/>
              <a:buNone/>
            </a:pPr>
            <a:r>
              <a:rPr lang="en-US" sz="1800" b="1" i="1" dirty="0">
                <a:latin typeface="Comic Sans MS" panose="030F0702030302020204" pitchFamily="66" charset="0"/>
              </a:rPr>
              <a:t>Visual Studio </a:t>
            </a:r>
            <a:r>
              <a:rPr lang="ru-RU" sz="1800" b="1" i="1" dirty="0">
                <a:latin typeface="Comic Sans MS" panose="030F0702030302020204" pitchFamily="66" charset="0"/>
              </a:rPr>
              <a:t>и </a:t>
            </a:r>
            <a:r>
              <a:rPr lang="en-US" sz="1800" b="1" i="1" dirty="0" err="1">
                <a:latin typeface="Comic Sans MS" panose="030F0702030302020204" pitchFamily="66" charset="0"/>
              </a:rPr>
              <a:t>postgreSQL</a:t>
            </a:r>
            <a:endParaRPr lang="ru-RU" i="1" dirty="0">
              <a:latin typeface="Comic Sans MS" panose="030F0702030302020204" pitchFamily="66" charset="0"/>
            </a:endParaRPr>
          </a:p>
          <a:p>
            <a:pPr marL="0" indent="0">
              <a:buFont typeface="Wingdings 3" charset="2"/>
              <a:buNone/>
            </a:pPr>
            <a:endParaRPr lang="ru-RU" sz="1800" dirty="0">
              <a:latin typeface="Molot" panose="02000506000000020004" pitchFamily="50" charset="0"/>
            </a:endParaRPr>
          </a:p>
          <a:p>
            <a:pPr marL="0" indent="0">
              <a:buFont typeface="Wingdings 3" charset="2"/>
              <a:buNone/>
            </a:pPr>
            <a:endParaRPr lang="ru-RU" dirty="0">
              <a:latin typeface="Molot" panose="02000506000000020004" pitchFamily="50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3148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B6EBE-E8A3-E729-1E11-3A53BA9EF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71336"/>
            <a:ext cx="9404723" cy="1781912"/>
          </a:xfrm>
        </p:spPr>
        <p:txBody>
          <a:bodyPr/>
          <a:lstStyle/>
          <a:p>
            <a:pPr algn="ctr"/>
            <a:r>
              <a:rPr lang="ru-RU" sz="3200" dirty="0">
                <a:latin typeface="Comic Sans MS" panose="030F0702030302020204" pitchFamily="66" charset="0"/>
              </a:rPr>
              <a:t>Описание терминов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1F3950-6A2A-619F-6F10-C92E35597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886" y="791183"/>
            <a:ext cx="9084518" cy="6066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Visual studio-</a:t>
            </a:r>
            <a:r>
              <a:rPr lang="ru-RU" b="0" i="0" dirty="0">
                <a:effectLst/>
                <a:latin typeface="Comic Sans MS" panose="030F0702030302020204" pitchFamily="66" charset="0"/>
              </a:rPr>
              <a:t>Среда разработки от Microsoft для Windows, поддерживает множество языков программирования, включая C#, C++, Python и JavaScript</a:t>
            </a:r>
            <a:r>
              <a:rPr lang="en-US" dirty="0">
                <a:latin typeface="Comic Sans MS" panose="030F0702030302020204" pitchFamily="66" charset="0"/>
              </a:rPr>
              <a:t>.</a:t>
            </a:r>
          </a:p>
          <a:p>
            <a:pPr algn="l">
              <a:spcAft>
                <a:spcPts val="600"/>
              </a:spcAft>
              <a:buNone/>
            </a:pPr>
            <a:r>
              <a:rPr lang="en-US" dirty="0" err="1">
                <a:latin typeface="Comic Sans MS" panose="030F0702030302020204" pitchFamily="66" charset="0"/>
              </a:rPr>
              <a:t>.Net</a:t>
            </a:r>
            <a:r>
              <a:rPr lang="en-US" dirty="0">
                <a:latin typeface="Comic Sans MS" panose="030F0702030302020204" pitchFamily="66" charset="0"/>
              </a:rPr>
              <a:t>- </a:t>
            </a:r>
            <a:r>
              <a:rPr lang="ru-RU" b="0" i="0" dirty="0">
                <a:effectLst/>
                <a:latin typeface="Comic Sans MS" panose="030F0702030302020204" pitchFamily="66" charset="0"/>
              </a:rPr>
              <a:t>(произносится как «</a:t>
            </a:r>
            <a:r>
              <a:rPr lang="ru-RU" b="0" i="0" dirty="0" err="1">
                <a:effectLst/>
                <a:latin typeface="Comic Sans MS" panose="030F0702030302020204" pitchFamily="66" charset="0"/>
              </a:rPr>
              <a:t>дотнет</a:t>
            </a:r>
            <a:r>
              <a:rPr lang="ru-RU" b="0" i="0" dirty="0">
                <a:effectLst/>
                <a:latin typeface="Comic Sans MS" panose="030F0702030302020204" pitchFamily="66" charset="0"/>
              </a:rPr>
              <a:t>» или «точка нет») — </a:t>
            </a:r>
            <a:r>
              <a:rPr lang="ru-RU" b="1" i="0" dirty="0">
                <a:effectLst/>
                <a:latin typeface="Comic Sans MS" panose="030F0702030302020204" pitchFamily="66" charset="0"/>
              </a:rPr>
              <a:t>платформа для </a:t>
            </a:r>
            <a:r>
              <a:rPr lang="ru-RU" i="0" dirty="0">
                <a:effectLst/>
                <a:latin typeface="Comic Sans MS" panose="030F0702030302020204" pitchFamily="66" charset="0"/>
              </a:rPr>
              <a:t>программирования, разработанная компанией Microsoft. Это экосистема инструментов, библиотек и технологий</a:t>
            </a:r>
            <a:r>
              <a:rPr lang="ru-RU" b="0" i="0" dirty="0">
                <a:effectLst/>
                <a:latin typeface="Comic Sans MS" panose="030F0702030302020204" pitchFamily="66" charset="0"/>
              </a:rPr>
              <a:t>, которая позволяет создавать различные типы приложений. Платформа поддерживает несколько языков программирования, в том числе C#, F#, Visual Basic и Visual C++.</a:t>
            </a:r>
            <a:endParaRPr lang="en-US" b="0" i="0" dirty="0">
              <a:effectLst/>
              <a:latin typeface="Comic Sans MS" panose="030F0702030302020204" pitchFamily="66" charset="0"/>
            </a:endParaRPr>
          </a:p>
          <a:p>
            <a:pPr>
              <a:spcAft>
                <a:spcPts val="600"/>
              </a:spcAft>
              <a:buNone/>
            </a:pPr>
            <a:r>
              <a:rPr lang="ru-RU" b="1" dirty="0">
                <a:latin typeface="Comic Sans MS" panose="030F0702030302020204" pitchFamily="66" charset="0"/>
              </a:rPr>
              <a:t>Windows </a:t>
            </a:r>
            <a:r>
              <a:rPr lang="ru-RU" b="1" dirty="0" err="1">
                <a:latin typeface="Comic Sans MS" panose="030F0702030302020204" pitchFamily="66" charset="0"/>
              </a:rPr>
              <a:t>Forms</a:t>
            </a:r>
            <a:r>
              <a:rPr lang="ru-RU" b="1" dirty="0">
                <a:latin typeface="Comic Sans MS" panose="030F0702030302020204" pitchFamily="66" charset="0"/>
              </a:rPr>
              <a:t> </a:t>
            </a:r>
            <a:r>
              <a:rPr lang="ru-RU" dirty="0">
                <a:latin typeface="Comic Sans MS" panose="030F0702030302020204" pitchFamily="66" charset="0"/>
              </a:rPr>
              <a:t>— это графическая подсистема платформы .NET Framework от Microsoft, предназначенная для создания десктопных приложений с графическим пользовательским интерфейсом (GUI) для операционной системы Windows.</a:t>
            </a:r>
            <a:endParaRPr lang="en-US" dirty="0">
              <a:latin typeface="Comic Sans MS" panose="030F0702030302020204" pitchFamily="66" charset="0"/>
            </a:endParaRPr>
          </a:p>
          <a:p>
            <a:pPr>
              <a:spcAft>
                <a:spcPts val="600"/>
              </a:spcAft>
              <a:buNone/>
            </a:pPr>
            <a:r>
              <a:rPr lang="ru-RU" b="1" dirty="0" err="1">
                <a:latin typeface="Comic Sans MS" panose="030F0702030302020204" pitchFamily="66" charset="0"/>
              </a:rPr>
              <a:t>PostgreSQL</a:t>
            </a:r>
            <a:r>
              <a:rPr lang="ru-RU" b="1" dirty="0">
                <a:latin typeface="Comic Sans MS" panose="030F0702030302020204" pitchFamily="66" charset="0"/>
              </a:rPr>
              <a:t> </a:t>
            </a:r>
            <a:r>
              <a:rPr lang="ru-RU" dirty="0">
                <a:latin typeface="Comic Sans MS" panose="030F0702030302020204" pitchFamily="66" charset="0"/>
              </a:rPr>
              <a:t>— это свободная объектно-реляционная система управления базами данных (СУБД) с открытым исходным кодом, известная своей надежностью, соответствием стандартам и богатым набором функций.</a:t>
            </a:r>
            <a:endParaRPr lang="en-US" dirty="0">
              <a:latin typeface="Comic Sans MS" panose="030F0702030302020204" pitchFamily="66" charset="0"/>
            </a:endParaRPr>
          </a:p>
          <a:p>
            <a:pPr>
              <a:spcAft>
                <a:spcPts val="600"/>
              </a:spcAft>
              <a:buNone/>
            </a:pPr>
            <a:endParaRPr lang="ru-RU" dirty="0">
              <a:latin typeface="Molot" panose="02000506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784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1DFC7A-C80F-E620-E1EE-D3C246D99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9412288" cy="1400530"/>
          </a:xfrm>
        </p:spPr>
        <p:txBody>
          <a:bodyPr/>
          <a:lstStyle/>
          <a:p>
            <a:pPr algn="r"/>
            <a:r>
              <a:rPr lang="ru-RU" sz="320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Файловая структура проекта и главное меню</a:t>
            </a:r>
            <a:r>
              <a:rPr lang="en-US" sz="320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 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316402-8720-1CD1-B32C-51818997EBE0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057591" y="6202680"/>
            <a:ext cx="45719" cy="61933"/>
          </a:xfrm>
        </p:spPr>
        <p:txBody>
          <a:bodyPr>
            <a:normAutofit fontScale="25000" lnSpcReduction="20000"/>
          </a:bodyPr>
          <a:lstStyle/>
          <a:p>
            <a:endParaRPr lang="ru-RU" dirty="0"/>
          </a:p>
        </p:txBody>
      </p:sp>
      <p:pic>
        <p:nvPicPr>
          <p:cNvPr id="7" name="Рисунок 6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16B6358-2319-717C-95A7-614EA27C7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471" y="1853248"/>
            <a:ext cx="2972215" cy="504895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дисплей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C78D385-7104-E33A-6F46-F920D7FB5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996" y="2595357"/>
            <a:ext cx="4407810" cy="356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44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DF35C0-1B92-5B01-B106-E743AE1D3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400" dirty="0">
                <a:effectLst/>
                <a:latin typeface="Comic Sans MS" panose="030F0702030302020204" pitchFamily="66" charset="0"/>
                <a:ea typeface="Times New Roman" panose="02020603050405020304" pitchFamily="18" charset="0"/>
              </a:rPr>
              <a:t>Схема взаимодействия  классов </a:t>
            </a:r>
            <a:endParaRPr lang="ru-RU" sz="4800" dirty="0">
              <a:latin typeface="Comic Sans MS" panose="030F0702030302020204" pitchFamily="66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75D07D-F298-6899-E39F-3E9543144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1" y="1555751"/>
            <a:ext cx="5067299" cy="1289049"/>
          </a:xfrm>
        </p:spPr>
        <p:txBody>
          <a:bodyPr/>
          <a:lstStyle/>
          <a:p>
            <a:pPr marL="0" indent="0">
              <a:buNone/>
            </a:pPr>
            <a:r>
              <a:rPr lang="ru-RU" sz="1800" dirty="0">
                <a:effectLst/>
                <a:latin typeface="Comic Sans MS" panose="030F0702030302020204" pitchFamily="66" charset="0"/>
              </a:rPr>
              <a:t>В рамках курсовой работы был</a:t>
            </a:r>
            <a:r>
              <a:rPr lang="ru-RU" sz="1800" dirty="0">
                <a:latin typeface="Comic Sans MS" panose="030F0702030302020204" pitchFamily="66" charset="0"/>
              </a:rPr>
              <a:t>о разработано приложении с использованием </a:t>
            </a:r>
            <a:r>
              <a:rPr lang="ru-RU" sz="1800" dirty="0" err="1">
                <a:latin typeface="Comic Sans MS" panose="030F0702030302020204" pitchFamily="66" charset="0"/>
              </a:rPr>
              <a:t>бд</a:t>
            </a:r>
            <a:r>
              <a:rPr lang="ru-RU" sz="1800" dirty="0">
                <a:latin typeface="Comic Sans MS" panose="030F0702030302020204" pitchFamily="66" charset="0"/>
              </a:rPr>
              <a:t> для продажи в кредит товаров</a:t>
            </a:r>
            <a:endParaRPr lang="en-US" sz="1800" dirty="0">
              <a:effectLst/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800" dirty="0">
              <a:latin typeface="Molot" panose="02000506000000020004" pitchFamily="50" charset="0"/>
            </a:endParaRPr>
          </a:p>
          <a:p>
            <a:pPr marL="0" indent="0">
              <a:buNone/>
            </a:pPr>
            <a:endParaRPr lang="ru-RU" dirty="0">
              <a:effectLst/>
              <a:latin typeface="Molot" panose="02000506000000020004" pitchFamily="50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BA99A1D2-D286-B772-80F8-8826123FFDAD}"/>
              </a:ext>
            </a:extLst>
          </p:cNvPr>
          <p:cNvSpPr txBox="1">
            <a:spLocks/>
          </p:cNvSpPr>
          <p:nvPr/>
        </p:nvSpPr>
        <p:spPr>
          <a:xfrm>
            <a:off x="520700" y="3651249"/>
            <a:ext cx="4781550" cy="3048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endParaRPr lang="ru-RU" dirty="0">
              <a:latin typeface="Molot" panose="02000506000000020004" pitchFamily="50" charset="0"/>
            </a:endParaRPr>
          </a:p>
          <a:p>
            <a:pPr marL="0" indent="0">
              <a:buFont typeface="Wingdings 3" charset="2"/>
              <a:buNone/>
            </a:pPr>
            <a:endParaRPr lang="ru-RU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15FAF5A-6109-C4CA-E367-4FC788078B85}"/>
              </a:ext>
            </a:extLst>
          </p:cNvPr>
          <p:cNvSpPr txBox="1">
            <a:spLocks/>
          </p:cNvSpPr>
          <p:nvPr/>
        </p:nvSpPr>
        <p:spPr>
          <a:xfrm>
            <a:off x="6489700" y="3651249"/>
            <a:ext cx="4781550" cy="3048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Font typeface="Wingdings 3" charset="2"/>
              <a:buNone/>
            </a:pPr>
            <a:endParaRPr lang="en-US" sz="1800" dirty="0">
              <a:latin typeface="Molot" panose="02000506000000020004" pitchFamily="50" charset="0"/>
            </a:endParaRPr>
          </a:p>
          <a:p>
            <a:pPr marL="0" indent="0">
              <a:buFont typeface="Wingdings 3" charset="2"/>
              <a:buNone/>
            </a:pPr>
            <a:endParaRPr lang="ru-RU" sz="1800" dirty="0">
              <a:latin typeface="Molot" panose="02000506000000020004" pitchFamily="50" charset="0"/>
            </a:endParaRPr>
          </a:p>
          <a:p>
            <a:pPr marL="0" indent="0">
              <a:buFont typeface="Wingdings 3" charset="2"/>
              <a:buNone/>
            </a:pPr>
            <a:endParaRPr lang="ru-RU" dirty="0">
              <a:latin typeface="Molot" panose="02000506000000020004" pitchFamily="50" charset="0"/>
            </a:endParaRPr>
          </a:p>
          <a:p>
            <a:pPr marL="0" indent="0">
              <a:buFont typeface="Wingdings 3" charset="2"/>
              <a:buNone/>
            </a:pP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9BA15DD-FCD5-2BA4-84BB-4F826F572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10544"/>
            <a:ext cx="12191999" cy="419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049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EA90B2-FA9C-421F-C1B9-DBE4B73F5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0"/>
            <a:ext cx="9404723" cy="1397726"/>
          </a:xfrm>
        </p:spPr>
        <p:txBody>
          <a:bodyPr/>
          <a:lstStyle/>
          <a:p>
            <a:pPr algn="ctr"/>
            <a:r>
              <a:rPr lang="ru-RU" sz="3200" dirty="0">
                <a:latin typeface="Comic Sans MS" panose="030F0702030302020204" pitchFamily="66" charset="0"/>
              </a:rPr>
              <a:t>Концептуальная модель базы данных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49A51C61-6453-FF9F-7DDC-4300B05111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640"/>
            <a:ext cx="12191999" cy="6309359"/>
          </a:xfrm>
        </p:spPr>
      </p:pic>
    </p:spTree>
    <p:extLst>
      <p:ext uri="{BB962C8B-B14F-4D97-AF65-F5344CB8AC3E}">
        <p14:creationId xmlns:p14="http://schemas.microsoft.com/office/powerpoint/2010/main" val="366283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EDA4AB-8C24-A8D1-3BA4-5710B1CE7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-19593"/>
            <a:ext cx="9404723" cy="1872842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Экраны приложения</a:t>
            </a:r>
            <a:endParaRPr lang="ru-RU" dirty="0"/>
          </a:p>
        </p:txBody>
      </p:sp>
      <p:pic>
        <p:nvPicPr>
          <p:cNvPr id="8" name="Рисунок 7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E84E74C-32F3-3D10-E932-41B97EEA5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5" y="1039968"/>
            <a:ext cx="4297681" cy="2650139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F48286B-3594-2DC3-BFE3-B533EBC5D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140" y="1025652"/>
            <a:ext cx="4108477" cy="2726913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6A85D05-FCAE-4C7C-E651-D6AB1B7F3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140" y="4237717"/>
            <a:ext cx="4108477" cy="2620284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55102D3-16BF-A13B-4691-398D8BB8E1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97" y="4237717"/>
            <a:ext cx="4273729" cy="2620283"/>
          </a:xfrm>
          <a:prstGeom prst="rect">
            <a:avLst/>
          </a:prstGeom>
        </p:spPr>
      </p:pic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360CF8BD-0884-DACF-6448-D81C1512D802}"/>
              </a:ext>
            </a:extLst>
          </p:cNvPr>
          <p:cNvSpPr txBox="1">
            <a:spLocks/>
          </p:cNvSpPr>
          <p:nvPr/>
        </p:nvSpPr>
        <p:spPr>
          <a:xfrm>
            <a:off x="0" y="528017"/>
            <a:ext cx="7183537" cy="18728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br>
              <a:rPr lang="ru-RU" dirty="0"/>
            </a:br>
            <a:endParaRPr lang="ru-RU" dirty="0"/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73FD5BA5-6A1E-DBC4-AD67-877065774358}"/>
              </a:ext>
            </a:extLst>
          </p:cNvPr>
          <p:cNvSpPr txBox="1">
            <a:spLocks/>
          </p:cNvSpPr>
          <p:nvPr/>
        </p:nvSpPr>
        <p:spPr>
          <a:xfrm>
            <a:off x="0" y="528017"/>
            <a:ext cx="3801291" cy="18728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Клиенты</a:t>
            </a:r>
            <a:endParaRPr lang="ru-RU" dirty="0"/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3D787D5B-4656-FF93-74F7-60A9255B498E}"/>
              </a:ext>
            </a:extLst>
          </p:cNvPr>
          <p:cNvSpPr txBox="1">
            <a:spLocks/>
          </p:cNvSpPr>
          <p:nvPr/>
        </p:nvSpPr>
        <p:spPr>
          <a:xfrm>
            <a:off x="6044732" y="510025"/>
            <a:ext cx="3801291" cy="18728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Магазины</a:t>
            </a:r>
            <a:endParaRPr lang="ru-RU" dirty="0"/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9DF09C63-E247-8B73-4A95-70D2E7E4F265}"/>
              </a:ext>
            </a:extLst>
          </p:cNvPr>
          <p:cNvSpPr txBox="1">
            <a:spLocks/>
          </p:cNvSpPr>
          <p:nvPr/>
        </p:nvSpPr>
        <p:spPr>
          <a:xfrm>
            <a:off x="44580" y="3752565"/>
            <a:ext cx="3801291" cy="19205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Товары</a:t>
            </a:r>
            <a:endParaRPr lang="ru-RU" dirty="0"/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3C29C9C9-8412-44FB-8208-4140E0368DEB}"/>
              </a:ext>
            </a:extLst>
          </p:cNvPr>
          <p:cNvSpPr txBox="1">
            <a:spLocks/>
          </p:cNvSpPr>
          <p:nvPr/>
        </p:nvSpPr>
        <p:spPr>
          <a:xfrm>
            <a:off x="5921830" y="3752565"/>
            <a:ext cx="3801291" cy="192053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ru-RU" sz="2800" dirty="0">
                <a:solidFill>
                  <a:schemeClr val="tx1"/>
                </a:solidFill>
                <a:latin typeface="Comic Sans MS" panose="030F0702030302020204" pitchFamily="66" charset="0"/>
              </a:rPr>
              <a:t>Сотрудники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4348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F15E2B-EFBB-E19E-E4F9-002EEBC488DC}"/>
              </a:ext>
            </a:extLst>
          </p:cNvPr>
          <p:cNvSpPr txBox="1"/>
          <p:nvPr/>
        </p:nvSpPr>
        <p:spPr>
          <a:xfrm>
            <a:off x="4391913" y="66503"/>
            <a:ext cx="3951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Экраны</a:t>
            </a:r>
            <a:r>
              <a:rPr lang="ru-RU" sz="220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приложения </a:t>
            </a:r>
            <a:endParaRPr lang="ru-RU" sz="2800" dirty="0"/>
          </a:p>
        </p:txBody>
      </p:sp>
      <p:pic>
        <p:nvPicPr>
          <p:cNvPr id="9" name="Рисунок 8" descr="Изображение выглядит как снимок экрана, текст, программное обеспечение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CF2105E-512D-5FD9-E13F-5EA67678C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8" y="2261607"/>
            <a:ext cx="6314662" cy="3668740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число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3912D61-08B3-00AF-ACDE-69CAD440A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069" y="2261607"/>
            <a:ext cx="5671931" cy="36687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3418BD-41CF-92CD-6530-6A03EAF182F0}"/>
              </a:ext>
            </a:extLst>
          </p:cNvPr>
          <p:cNvSpPr txBox="1"/>
          <p:nvPr/>
        </p:nvSpPr>
        <p:spPr>
          <a:xfrm>
            <a:off x="1234582" y="1670016"/>
            <a:ext cx="39515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Кредитные контракты</a:t>
            </a:r>
            <a:endParaRPr lang="ru-RU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4211C6-AADE-5B85-779F-5387EF1D948B}"/>
              </a:ext>
            </a:extLst>
          </p:cNvPr>
          <p:cNvSpPr txBox="1"/>
          <p:nvPr/>
        </p:nvSpPr>
        <p:spPr>
          <a:xfrm>
            <a:off x="8722061" y="1670016"/>
            <a:ext cx="18995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Платежи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157904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AF4A72-0ABC-C814-21DF-5E6B8DC0B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Заключение</a:t>
            </a:r>
            <a:r>
              <a:rPr lang="en-US" sz="4000" dirty="0"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:</a:t>
            </a:r>
            <a:br>
              <a:rPr lang="ru-RU" dirty="0">
                <a:effectLst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96AF38-ED55-F77A-5D09-8FC4EC876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238494"/>
            <a:ext cx="10055019" cy="544060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>
                <a:latin typeface="Comic Sans MS" panose="030F0702030302020204" pitchFamily="66" charset="0"/>
              </a:rPr>
              <a:t>В результате выполнения работы спроектирована и реализована система управления кредитной базой данных, которая предоставляет кредитным организациям эффективный инструмент для автоматизации ключевых бизнес-процессов. Разработанное приложение предлагает пользователям комплексное решение для управления клиентской базой, оформления кредитных договоров, учета платежей</a:t>
            </a:r>
            <a:r>
              <a:rPr lang="en-US" dirty="0">
                <a:latin typeface="Comic Sans MS" panose="030F0702030302020204" pitchFamily="66" charset="0"/>
              </a:rPr>
              <a:t>.</a:t>
            </a:r>
          </a:p>
          <a:p>
            <a:r>
              <a:rPr lang="ru-RU" dirty="0">
                <a:latin typeface="Comic Sans MS" panose="030F0702030302020204" pitchFamily="66" charset="0"/>
              </a:rPr>
              <a:t>Для решения поставленных задач был использован современный технологический стек, включающий язык программирования C#, платформу .NET Framework, систему управления базами данных </a:t>
            </a:r>
            <a:r>
              <a:rPr lang="ru-RU" dirty="0" err="1">
                <a:latin typeface="Comic Sans MS" panose="030F0702030302020204" pitchFamily="66" charset="0"/>
              </a:rPr>
              <a:t>PostgreSQL</a:t>
            </a:r>
            <a:r>
              <a:rPr lang="ru-RU" dirty="0">
                <a:latin typeface="Comic Sans MS" panose="030F0702030302020204" pitchFamily="66" charset="0"/>
              </a:rPr>
              <a:t> и технологию Windows </a:t>
            </a:r>
            <a:r>
              <a:rPr lang="ru-RU" dirty="0" err="1">
                <a:latin typeface="Comic Sans MS" panose="030F0702030302020204" pitchFamily="66" charset="0"/>
              </a:rPr>
              <a:t>Forms</a:t>
            </a:r>
            <a:r>
              <a:rPr lang="ru-RU" dirty="0">
                <a:latin typeface="Comic Sans MS" panose="030F0702030302020204" pitchFamily="66" charset="0"/>
              </a:rPr>
              <a:t>. Выбор C# обеспечил высокую производительность, </a:t>
            </a:r>
            <a:r>
              <a:rPr lang="ru-RU" dirty="0" err="1">
                <a:latin typeface="Comic Sans MS" panose="030F0702030302020204" pitchFamily="66" charset="0"/>
              </a:rPr>
              <a:t>типобезопасность</a:t>
            </a:r>
            <a:r>
              <a:rPr lang="ru-RU" dirty="0">
                <a:latin typeface="Comic Sans MS" panose="030F0702030302020204" pitchFamily="66" charset="0"/>
              </a:rPr>
              <a:t> и богатые возможности для реализации сложной бизнес-логики. .NET Framework предоставил стабильную и надежную среду выполнения, а Windows </a:t>
            </a:r>
            <a:r>
              <a:rPr lang="ru-RU" dirty="0" err="1">
                <a:latin typeface="Comic Sans MS" panose="030F0702030302020204" pitchFamily="66" charset="0"/>
              </a:rPr>
              <a:t>Forms</a:t>
            </a:r>
            <a:r>
              <a:rPr lang="ru-RU" dirty="0">
                <a:latin typeface="Comic Sans MS" panose="030F0702030302020204" pitchFamily="66" charset="0"/>
              </a:rPr>
              <a:t> позволил создать интуитивно понятный пользовательский интерфейс для ежедневной работы сотрудников кредитного отдела.</a:t>
            </a:r>
          </a:p>
          <a:p>
            <a:r>
              <a:rPr lang="ru-RU" dirty="0" err="1">
                <a:latin typeface="Comic Sans MS" panose="030F0702030302020204" pitchFamily="66" charset="0"/>
              </a:rPr>
              <a:t>PostgreSQL</a:t>
            </a:r>
            <a:r>
              <a:rPr lang="ru-RU" dirty="0">
                <a:latin typeface="Comic Sans MS" panose="030F0702030302020204" pitchFamily="66" charset="0"/>
              </a:rPr>
              <a:t> был выбран в качестве системы хранения данных благодаря своей надежности, соответствию стандартам SQL, мощным механизмам обеспечения целостности данных и открытой лицензионной модели. Использование этой СУБД позволило создать масштабируемую и отказоустойчивую архитектуру хранения кредитной информации.</a:t>
            </a:r>
          </a:p>
          <a:p>
            <a:r>
              <a:rPr lang="ru-RU" dirty="0">
                <a:latin typeface="Comic Sans MS" panose="030F0702030302020204" pitchFamily="66" charset="0"/>
              </a:rPr>
              <a:t>Разработанное приложение отличается модульной архитектурой, что обеспечивает простоту поддержки и возможность дальнейшего расширения функциональности.</a:t>
            </a:r>
          </a:p>
          <a:p>
            <a:pPr marL="0" indent="0">
              <a:buNone/>
            </a:pPr>
            <a:endParaRPr lang="ru-RU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7338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1182</TotalTime>
  <Words>457</Words>
  <Application>Microsoft Office PowerPoint</Application>
  <PresentationFormat>Широкоэкранный</PresentationFormat>
  <Paragraphs>52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Century Gothic</vt:lpstr>
      <vt:lpstr>Comic Sans MS</vt:lpstr>
      <vt:lpstr>Marvin</vt:lpstr>
      <vt:lpstr>Molot</vt:lpstr>
      <vt:lpstr>Roboto</vt:lpstr>
      <vt:lpstr>Wingdings 3</vt:lpstr>
      <vt:lpstr>Ион</vt:lpstr>
      <vt:lpstr> Разработка программы проданных в кредит товаров с использованием баз данных </vt:lpstr>
      <vt:lpstr>Объект и предмет исследования </vt:lpstr>
      <vt:lpstr>Цель работы </vt:lpstr>
      <vt:lpstr>Инструменты разработки </vt:lpstr>
      <vt:lpstr>Описание терминов</vt:lpstr>
      <vt:lpstr>Файловая структура проекта и главное меню  </vt:lpstr>
      <vt:lpstr>Схема взаимодействия  классов </vt:lpstr>
      <vt:lpstr>Концептуальная модель базы данных</vt:lpstr>
      <vt:lpstr>Экраны приложения</vt:lpstr>
      <vt:lpstr>Презентация PowerPoint</vt:lpstr>
      <vt:lpstr>Заключение: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Македонский</dc:creator>
  <cp:lastModifiedBy>Александр Македонский</cp:lastModifiedBy>
  <cp:revision>2</cp:revision>
  <dcterms:created xsi:type="dcterms:W3CDTF">2025-04-26T21:22:10Z</dcterms:created>
  <dcterms:modified xsi:type="dcterms:W3CDTF">2025-12-07T18:07:07Z</dcterms:modified>
</cp:coreProperties>
</file>